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jcstYznty89wD/ao5+pZZtzlS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cea6110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0cea6110b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d79172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f3d79172d9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2d17902aa6fd10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2d17902aa6fd107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2d17902aa6fd10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h2d17902aa6fd107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2d17902aa6fd10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h2d17902aa6fd107_1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ecf9a42a7b0f60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h4ecf9a42a7b0f60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2d17902aa6fd107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h2d17902aa6fd107_1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ecf9a42a7b0f6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h4ecf9a42a7b0f60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7d5e15b6246f543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h7d5e15b6246f5435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7d5e15b6246f54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h7d5e15b6246f543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41fe6924793156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h541fe69247931567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2d17902aa6fd10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h2d17902aa6fd107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jp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hyperlink" Target="https://isc-hpc.com/program/student-cluster-competition/" TargetMode="External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image" Target="../media/image25.png"/><Relationship Id="rId12" Type="http://schemas.openxmlformats.org/officeDocument/2006/relationships/image" Target="../media/image20.png"/><Relationship Id="rId9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6.jpg"/><Relationship Id="rId11" Type="http://schemas.openxmlformats.org/officeDocument/2006/relationships/image" Target="../media/image23.png"/><Relationship Id="rId10" Type="http://schemas.openxmlformats.org/officeDocument/2006/relationships/image" Target="../media/image21.png"/><Relationship Id="rId9" Type="http://schemas.openxmlformats.org/officeDocument/2006/relationships/image" Target="../media/image28.png"/><Relationship Id="rId5" Type="http://schemas.openxmlformats.org/officeDocument/2006/relationships/image" Target="../media/image16.png"/><Relationship Id="rId6" Type="http://schemas.openxmlformats.org/officeDocument/2006/relationships/image" Target="../media/image24.jpg"/><Relationship Id="rId7" Type="http://schemas.openxmlformats.org/officeDocument/2006/relationships/image" Target="../media/image19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cea6110b_0_43"/>
          <p:cNvSpPr txBox="1"/>
          <p:nvPr>
            <p:ph type="ctrTitle"/>
          </p:nvPr>
        </p:nvSpPr>
        <p:spPr>
          <a:xfrm>
            <a:off x="1524000" y="2404327"/>
            <a:ext cx="91440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Al-Khawarizmi Tour 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Inaugural Online Hackathon</a:t>
            </a:r>
            <a:endParaRPr/>
          </a:p>
        </p:txBody>
      </p:sp>
      <p:sp>
        <p:nvSpPr>
          <p:cNvPr id="85" name="Google Shape;85;g3a0cea6110b_0_43"/>
          <p:cNvSpPr txBox="1"/>
          <p:nvPr>
            <p:ph idx="1" type="subTitle"/>
          </p:nvPr>
        </p:nvSpPr>
        <p:spPr>
          <a:xfrm>
            <a:off x="528425" y="4372950"/>
            <a:ext cx="11296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/>
              <a:t> Hatem Ltaief (Chair) and Bilel Hadri (co-Chair)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/>
              <a:t>Ibtissem Kacem (Coordinator)</a:t>
            </a:r>
            <a:endParaRPr sz="3000"/>
          </a:p>
        </p:txBody>
      </p:sp>
      <p:pic>
        <p:nvPicPr>
          <p:cNvPr descr="A blue and white logo&#10;&#10;AI-generated content may be incorrect." id="86" name="Google Shape;86;g3a0cea6110b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413" y="536921"/>
            <a:ext cx="4915175" cy="14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d79172d9_0_6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Ya Marhaba!</a:t>
            </a:r>
            <a:endParaRPr/>
          </a:p>
        </p:txBody>
      </p:sp>
      <p:pic>
        <p:nvPicPr>
          <p:cNvPr descr="A blue and white logo&#10;&#10;AI-generated content may be incorrect." id="92" name="Google Shape;92;g3f3d79172d9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f3d79172d9_0_6"/>
          <p:cNvSpPr txBox="1"/>
          <p:nvPr/>
        </p:nvSpPr>
        <p:spPr>
          <a:xfrm>
            <a:off x="767400" y="1998587"/>
            <a:ext cx="10657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Dates: October 3, 2026 – November 7, 2026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Day: Every Saturday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Time: 4:00 PM – 6:00 PM KSA Time (AST, UTC+3)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Format: Online, webinar style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Platform: Zoom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Participation: Open to all levels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94" name="Google Shape;94;g3f3d79172d9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0896" y="1279525"/>
            <a:ext cx="3556112" cy="476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2d17902aa6fd107_1_1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Statistics on Registration</a:t>
            </a:r>
            <a:endParaRPr/>
          </a:p>
        </p:txBody>
      </p:sp>
      <p:pic>
        <p:nvPicPr>
          <p:cNvPr descr="A blue and white logo&#10;&#10;AI-generated content may be incorrect." id="100" name="Google Shape;100;h2d17902aa6fd107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h2d17902aa6fd107_1_1"/>
          <p:cNvSpPr txBox="1"/>
          <p:nvPr/>
        </p:nvSpPr>
        <p:spPr>
          <a:xfrm>
            <a:off x="767400" y="1385387"/>
            <a:ext cx="10657200" cy="21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600+ registered participants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80% students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Countries: Tunisia, Egypt, Morocco, USA, France, Saudi Arabia, UAE, India, Ireland, Azerbaijan, Spain, Pakistan, Bangladesh, Turkiye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Team number breakdown: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02" name="Google Shape;102;h2d17902aa6fd107_1_1" title="Screenshot 2026-10-03 at 14.59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3039" y="3431025"/>
            <a:ext cx="7325925" cy="342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d17902aa6fd107_1_16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Team Formation</a:t>
            </a:r>
            <a:endParaRPr/>
          </a:p>
        </p:txBody>
      </p:sp>
      <p:pic>
        <p:nvPicPr>
          <p:cNvPr descr="A blue and white logo&#10;&#10;AI-generated content may be incorrect." id="108" name="Google Shape;108;h2d17902aa6fd107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h2d17902aa6fd107_1_16"/>
          <p:cNvSpPr txBox="1"/>
          <p:nvPr/>
        </p:nvSpPr>
        <p:spPr>
          <a:xfrm>
            <a:off x="767400" y="1369274"/>
            <a:ext cx="10657200" cy="4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Participants may work individually or form a team.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Teams may have </a:t>
            </a:r>
            <a:r>
              <a:rPr b="1" lang="en-US" sz="2400">
                <a:solidFill>
                  <a:schemeClr val="dk1"/>
                </a:solidFill>
              </a:rPr>
              <a:t>up to 6 members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Participants are encouraged to form multidisciplinary teams combining different skills, such as programming, mathematics, AI, HPC, and scientific applications.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For student teams, we recommend — but do not require — that team members come from the same school, university, or institution.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Cross-institutional teams are welcome.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Participants who do not have a team may be matched with other participants where possible.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2d17902aa6fd107_1_21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Guidelines</a:t>
            </a:r>
            <a:endParaRPr/>
          </a:p>
        </p:txBody>
      </p:sp>
      <p:pic>
        <p:nvPicPr>
          <p:cNvPr descr="A blue and white logo&#10;&#10;AI-generated content may be incorrect." id="115" name="Google Shape;115;h2d17902aa6fd107_1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h2d17902aa6fd107_1_21"/>
          <p:cNvSpPr txBox="1"/>
          <p:nvPr/>
        </p:nvSpPr>
        <p:spPr>
          <a:xfrm>
            <a:off x="767400" y="1369274"/>
            <a:ext cx="10657200" cy="4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Participants are expected to: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Attend </a:t>
            </a:r>
            <a:r>
              <a:rPr b="1" lang="en-US" sz="2400">
                <a:solidFill>
                  <a:schemeClr val="dk1"/>
                </a:solidFill>
              </a:rPr>
              <a:t>ALL</a:t>
            </a:r>
            <a:r>
              <a:rPr lang="en-US" sz="2400">
                <a:solidFill>
                  <a:schemeClr val="dk1"/>
                </a:solidFill>
              </a:rPr>
              <a:t> the online sessions.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Actively contribute to their team.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Respect other participants and team members.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Share knowledge and collaborate constructively.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Follow the technical and submission requirements communicated before and during the hackathon.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Ensure that submitted work is their team’s own work and appropriately acknowledges any external software, datasets, or resources used.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Watch the recorded sessions for review important matters.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4ecf9a42a7b0f606_0_13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Presenters of the HaT Series</a:t>
            </a:r>
            <a:endParaRPr/>
          </a:p>
        </p:txBody>
      </p:sp>
      <p:pic>
        <p:nvPicPr>
          <p:cNvPr descr="A blue and white logo&#10;&#10;AI-generated content may be incorrect." id="122" name="Google Shape;122;h4ecf9a42a7b0f60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h4ecf9a42a7b0f606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200" y="1457475"/>
            <a:ext cx="2531075" cy="23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h4ecf9a42a7b0f606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2702" y="4275830"/>
            <a:ext cx="2379200" cy="23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h4ecf9a42a7b0f606_0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6676" y="1527079"/>
            <a:ext cx="2379200" cy="2239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ur Abou El Nadar‏ - ‏Cloud Business Director at Brightskies | AutoHPC Product Owner | AWS SAA | AWS CLF | RHCE | RHCA | VCP DCV‏ | LinkedIn" id="126" name="Google Shape;126;h4ecf9a42a7b0f606_0_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31100" y="4199888"/>
            <a:ext cx="2531075" cy="25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h4ecf9a42a7b0f606_0_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37275" y="1528853"/>
            <a:ext cx="2379200" cy="22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h4ecf9a42a7b0f606_0_13"/>
          <p:cNvSpPr txBox="1"/>
          <p:nvPr/>
        </p:nvSpPr>
        <p:spPr>
          <a:xfrm>
            <a:off x="849799" y="3747300"/>
            <a:ext cx="12762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Rafik Borji</a:t>
            </a:r>
            <a:endParaRPr/>
          </a:p>
        </p:txBody>
      </p:sp>
      <p:sp>
        <p:nvSpPr>
          <p:cNvPr id="129" name="Google Shape;129;h4ecf9a42a7b0f606_0_13"/>
          <p:cNvSpPr txBox="1"/>
          <p:nvPr/>
        </p:nvSpPr>
        <p:spPr>
          <a:xfrm>
            <a:off x="4950738" y="3747293"/>
            <a:ext cx="21315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Ahmad Abdelfattah</a:t>
            </a:r>
            <a:endParaRPr/>
          </a:p>
        </p:txBody>
      </p:sp>
      <p:sp>
        <p:nvSpPr>
          <p:cNvPr id="130" name="Google Shape;130;h4ecf9a42a7b0f606_0_13"/>
          <p:cNvSpPr txBox="1"/>
          <p:nvPr/>
        </p:nvSpPr>
        <p:spPr>
          <a:xfrm>
            <a:off x="9866688" y="3747293"/>
            <a:ext cx="21315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Marouane Salhi</a:t>
            </a:r>
            <a:endParaRPr/>
          </a:p>
        </p:txBody>
      </p:sp>
      <p:sp>
        <p:nvSpPr>
          <p:cNvPr id="131" name="Google Shape;131;h4ecf9a42a7b0f606_0_13"/>
          <p:cNvSpPr txBox="1"/>
          <p:nvPr/>
        </p:nvSpPr>
        <p:spPr>
          <a:xfrm>
            <a:off x="613979" y="5676125"/>
            <a:ext cx="15927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Hatem Ltaief</a:t>
            </a:r>
            <a:endParaRPr/>
          </a:p>
        </p:txBody>
      </p:sp>
      <p:sp>
        <p:nvSpPr>
          <p:cNvPr id="132" name="Google Shape;132;h4ecf9a42a7b0f606_0_13"/>
          <p:cNvSpPr txBox="1"/>
          <p:nvPr/>
        </p:nvSpPr>
        <p:spPr>
          <a:xfrm>
            <a:off x="5680050" y="5676125"/>
            <a:ext cx="1751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Nour Abou El-Nadar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2d17902aa6fd107_1_214"/>
          <p:cNvSpPr txBox="1"/>
          <p:nvPr>
            <p:ph type="title"/>
          </p:nvPr>
        </p:nvSpPr>
        <p:spPr>
          <a:xfrm>
            <a:off x="3550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Schedule</a:t>
            </a:r>
            <a:endParaRPr/>
          </a:p>
        </p:txBody>
      </p:sp>
      <p:pic>
        <p:nvPicPr>
          <p:cNvPr descr="A blue and white logo&#10;&#10;AI-generated content may be incorrect." id="138" name="Google Shape;138;h2d17902aa6fd107_1_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h2d17902aa6fd107_1_214"/>
          <p:cNvSpPr txBox="1"/>
          <p:nvPr/>
        </p:nvSpPr>
        <p:spPr>
          <a:xfrm>
            <a:off x="355000" y="1369275"/>
            <a:ext cx="11650500" cy="4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Session 1 and 2: ML/AI survival guides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by Rafik Borji (TechnipFMC, USA)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Session 3 and 4: HPC/Linear Algebra/GPU Architecture and Programming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by Hatem Ltaief (KAUST/AlgoDoers, KSA/France) and Ahmad Abdelfattah (UTK, USA)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Session 5: Quantum + AutoHPC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by Marouan Salhi (Qubit Engineering, USA) and Nour Abou-Elnadar (Brightskies, Egypt)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Session 6: Demo Day for selected teams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by ALL speakers and mentors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4ecf9a42a7b0f606_0_0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Scores and Ranking</a:t>
            </a:r>
            <a:endParaRPr/>
          </a:p>
        </p:txBody>
      </p:sp>
      <p:pic>
        <p:nvPicPr>
          <p:cNvPr descr="A blue and white logo&#10;&#10;AI-generated content may be incorrect." id="145" name="Google Shape;145;h4ecf9a42a7b0f60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h4ecf9a42a7b0f606_0_0"/>
          <p:cNvSpPr txBox="1"/>
          <p:nvPr/>
        </p:nvSpPr>
        <p:spPr>
          <a:xfrm>
            <a:off x="767400" y="1369275"/>
            <a:ext cx="11238000" cy="5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Attendance Requirement:</a:t>
            </a:r>
            <a:r>
              <a:rPr lang="en-US" sz="2400">
                <a:solidFill>
                  <a:schemeClr val="dk1"/>
                </a:solidFill>
              </a:rPr>
              <a:t> At least one member of each team must attend every webinar lecture. If no member of a team is present during a lecture, the team will be excluded from the HaT. They can always attend the remaining lectures but they will not be able to compete for the HaT.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Apply the following grading scheme: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 sz="2400">
                <a:solidFill>
                  <a:schemeClr val="dk1"/>
                </a:solidFill>
              </a:rPr>
              <a:t>40% for ML/AI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 sz="2400">
                <a:solidFill>
                  <a:schemeClr val="dk1"/>
                </a:solidFill>
              </a:rPr>
              <a:t>40% for HPC/LA/GPU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 sz="2400">
                <a:solidFill>
                  <a:schemeClr val="dk1"/>
                </a:solidFill>
              </a:rPr>
              <a:t>20% for Presentation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Invite </a:t>
            </a:r>
            <a:r>
              <a:rPr i="1" lang="en-US" sz="2400">
                <a:solidFill>
                  <a:schemeClr val="dk1"/>
                </a:solidFill>
              </a:rPr>
              <a:t>only</a:t>
            </a:r>
            <a:r>
              <a:rPr lang="en-US" sz="2400">
                <a:solidFill>
                  <a:schemeClr val="dk1"/>
                </a:solidFill>
              </a:rPr>
              <a:t> selected t</a:t>
            </a:r>
            <a:r>
              <a:rPr lang="en-US" sz="2400">
                <a:solidFill>
                  <a:schemeClr val="dk1"/>
                </a:solidFill>
              </a:rPr>
              <a:t>eams for the demo day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Award the AKT26 Hackathon Prize for best teams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Select the best of the best teams to compete for the SCC @ ISC27 prestigious conference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7d5e15b6246f5435_0_11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International Student Cluster Competition @ ISC27 Conference</a:t>
            </a:r>
            <a:endParaRPr/>
          </a:p>
        </p:txBody>
      </p:sp>
      <p:pic>
        <p:nvPicPr>
          <p:cNvPr descr="A blue and white logo&#10;&#10;AI-generated content may be incorrect." id="152" name="Google Shape;152;h7d5e15b6246f5435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h7d5e15b6246f5435_0_11" title="Screenshot 2026-08-31 at 16.28.3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00" y="2859847"/>
            <a:ext cx="9225426" cy="31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h7d5e15b6246f5435_0_11"/>
          <p:cNvSpPr txBox="1"/>
          <p:nvPr/>
        </p:nvSpPr>
        <p:spPr>
          <a:xfrm>
            <a:off x="2595450" y="1676713"/>
            <a:ext cx="700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https://isc-hpc.com/program/student-cluster-competition/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h7d5e15b6246f5435_0_11" title="Screenshot 2026-09-16 at 14.35.5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6550" y="2129093"/>
            <a:ext cx="2290650" cy="463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h7d5e15b6246f5435_0_11"/>
          <p:cNvSpPr/>
          <p:nvPr/>
        </p:nvSpPr>
        <p:spPr>
          <a:xfrm>
            <a:off x="9731300" y="3233425"/>
            <a:ext cx="1429200" cy="531000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7d5e15b6246f5435_0_0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Mentors for SCC @ ISC27</a:t>
            </a:r>
            <a:endParaRPr/>
          </a:p>
        </p:txBody>
      </p:sp>
      <p:pic>
        <p:nvPicPr>
          <p:cNvPr descr="A blue and white logo&#10;&#10;AI-generated content may be incorrect." id="162" name="Google Shape;162;h7d5e15b6246f543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h7d5e15b6246f543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345" y="1550025"/>
            <a:ext cx="1748326" cy="174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h7d5e15b6246f543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8371" y="3782525"/>
            <a:ext cx="17907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h7d5e15b6246f5435_0_0"/>
          <p:cNvPicPr preferRelativeResize="0"/>
          <p:nvPr/>
        </p:nvPicPr>
        <p:blipFill rotWithShape="1">
          <a:blip r:embed="rId6">
            <a:alphaModFix/>
          </a:blip>
          <a:srcRect b="19444" l="19235" r="17430" t="17221"/>
          <a:stretch/>
        </p:blipFill>
        <p:spPr>
          <a:xfrm>
            <a:off x="9483863" y="3751325"/>
            <a:ext cx="1748325" cy="174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h7d5e15b6246f5435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7800" y="1471689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h7d5e15b6246f5435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99121" y="3635751"/>
            <a:ext cx="1857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h7d5e15b6246f5435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56921" y="1471676"/>
            <a:ext cx="1809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h7d5e15b6246f5435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2975" y="5569675"/>
            <a:ext cx="17907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h7d5e15b6246f5435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21850" y="5603570"/>
            <a:ext cx="1748300" cy="1153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h7d5e15b6246f5435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150400" y="5618065"/>
            <a:ext cx="1748300" cy="112453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h7d5e15b6246f5435_0_0"/>
          <p:cNvSpPr/>
          <p:nvPr/>
        </p:nvSpPr>
        <p:spPr>
          <a:xfrm>
            <a:off x="289975" y="1420903"/>
            <a:ext cx="3291300" cy="5393700"/>
          </a:xfrm>
          <a:prstGeom prst="rect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7d5e15b6246f5435_0_0"/>
          <p:cNvSpPr/>
          <p:nvPr/>
        </p:nvSpPr>
        <p:spPr>
          <a:xfrm>
            <a:off x="4338888" y="1420903"/>
            <a:ext cx="3291300" cy="5393700"/>
          </a:xfrm>
          <a:prstGeom prst="rect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7d5e15b6246f5435_0_0"/>
          <p:cNvSpPr/>
          <p:nvPr/>
        </p:nvSpPr>
        <p:spPr>
          <a:xfrm>
            <a:off x="8203033" y="1420903"/>
            <a:ext cx="3291300" cy="5393700"/>
          </a:xfrm>
          <a:prstGeom prst="rect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541fe69247931567_0_14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AKT26: Call For Posters</a:t>
            </a:r>
            <a:endParaRPr/>
          </a:p>
        </p:txBody>
      </p:sp>
      <p:pic>
        <p:nvPicPr>
          <p:cNvPr descr="A blue and white logo&#10;&#10;AI-generated content may be incorrect." id="180" name="Google Shape;180;h541fe69247931567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h541fe69247931567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446" y="1373927"/>
            <a:ext cx="7907385" cy="5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h541fe69247931567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8450" y="1397424"/>
            <a:ext cx="17907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h541fe69247931567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0934" y="1402925"/>
            <a:ext cx="1809341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h541fe69247931567_0_14" title="qrcode_409150513_5ffaf3aa0e75d31efe727c1f549f766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43014" y="3294600"/>
            <a:ext cx="2701975" cy="27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h541fe69247931567_0_14"/>
          <p:cNvSpPr/>
          <p:nvPr/>
        </p:nvSpPr>
        <p:spPr>
          <a:xfrm>
            <a:off x="3366275" y="5996575"/>
            <a:ext cx="1809300" cy="531000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2d17902aa6fd107_1_10"/>
          <p:cNvSpPr txBox="1"/>
          <p:nvPr>
            <p:ph type="title"/>
          </p:nvPr>
        </p:nvSpPr>
        <p:spPr>
          <a:xfrm>
            <a:off x="838200" y="365126"/>
            <a:ext cx="817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Contributors and Sponsors</a:t>
            </a:r>
            <a:endParaRPr/>
          </a:p>
        </p:txBody>
      </p:sp>
      <p:pic>
        <p:nvPicPr>
          <p:cNvPr descr="A blue and white logo&#10;&#10;AI-generated content may be incorrect." id="191" name="Google Shape;191;h2d17902aa6fd107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0" y="9806"/>
            <a:ext cx="3175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h2d17902aa6fd107_1_10" title="algodoers_logo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154" y="1519988"/>
            <a:ext cx="2931799" cy="11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h2d17902aa6fd107_1_10" title="tchpc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0025" y="5252676"/>
            <a:ext cx="34099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h2d17902aa6fd107_1_10" title="TCPP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8700" y="5413737"/>
            <a:ext cx="3076650" cy="10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h2d17902aa6fd107_1_10"/>
          <p:cNvPicPr preferRelativeResize="0"/>
          <p:nvPr/>
        </p:nvPicPr>
        <p:blipFill rotWithShape="1">
          <a:blip r:embed="rId7">
            <a:alphaModFix/>
          </a:blip>
          <a:srcRect b="32865" l="8398" r="8531" t="29434"/>
          <a:stretch/>
        </p:blipFill>
        <p:spPr>
          <a:xfrm>
            <a:off x="3772339" y="1565736"/>
            <a:ext cx="4784825" cy="113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utoHPC-logo.png" id="196" name="Google Shape;196;h2d17902aa6fd107_1_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49931" y="1415851"/>
            <a:ext cx="2303568" cy="156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h2d17902aa6fd107_1_10"/>
          <p:cNvPicPr preferRelativeResize="0"/>
          <p:nvPr/>
        </p:nvPicPr>
        <p:blipFill rotWithShape="1">
          <a:blip r:embed="rId9">
            <a:alphaModFix/>
          </a:blip>
          <a:srcRect b="18698" l="0" r="0" t="15810"/>
          <a:stretch/>
        </p:blipFill>
        <p:spPr>
          <a:xfrm>
            <a:off x="923550" y="3248100"/>
            <a:ext cx="2421325" cy="161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h2d17902aa6fd107_1_10"/>
          <p:cNvPicPr preferRelativeResize="0"/>
          <p:nvPr/>
        </p:nvPicPr>
        <p:blipFill rotWithShape="1">
          <a:blip r:embed="rId10">
            <a:alphaModFix/>
          </a:blip>
          <a:srcRect b="21196" l="0" r="-4646" t="19960"/>
          <a:stretch/>
        </p:blipFill>
        <p:spPr>
          <a:xfrm>
            <a:off x="8585835" y="3166659"/>
            <a:ext cx="3167670" cy="17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h2d17902aa6fd107_1_10"/>
          <p:cNvPicPr preferRelativeResize="0"/>
          <p:nvPr/>
        </p:nvPicPr>
        <p:blipFill rotWithShape="1">
          <a:blip r:embed="rId11">
            <a:alphaModFix/>
          </a:blip>
          <a:srcRect b="18700" l="0" r="2913" t="18360"/>
          <a:stretch/>
        </p:blipFill>
        <p:spPr>
          <a:xfrm>
            <a:off x="4885338" y="3272437"/>
            <a:ext cx="2421325" cy="15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2025-10-16T11:34:35Z</dcterms:created>
  <dc:creator>Bilel Hadri</dc:creator>
</cp:coreProperties>
</file>